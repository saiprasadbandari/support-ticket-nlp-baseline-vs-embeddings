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2B6E73"/>
                </a:solidFill>
                <a:latin typeface="Calibri"/>
              </a:rPr>
              <a:t>FINAL PROJECT · DATA SCIENCE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 i="0">
                <a:solidFill>
                  <a:srgbClr val="202A28"/>
                </a:solidFill>
                <a:latin typeface="Georgia"/>
              </a:rPr>
              <a:t>Classical vs. Transformer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803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1">
                <a:solidFill>
                  <a:srgbClr val="2B6E73"/>
                </a:solidFill>
                <a:latin typeface="Georgia"/>
              </a:rPr>
              <a:t>Is the modern approach worth its cost?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794760"/>
            <a:ext cx="1280160" cy="38100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0233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625D"/>
                </a:solidFill>
                <a:latin typeface="Calibri"/>
              </a:rPr>
              <a:t>Comparing TF-IDF and pretrained sentence embeddings for customer complaint classification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035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625D"/>
                </a:solidFill>
                <a:latin typeface="Calibri"/>
              </a:rPr>
              <a:t>Rayyan Ahemad Mohd  ·  Ebelechukwu Chinedu Umezude  ·  Sai Prasad Bandari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2B6E73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202A28"/>
                </a:solidFill>
                <a:latin typeface="Georgia"/>
              </a:rPr>
              <a:t>Sorting Complaints Automatically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91640"/>
            <a:ext cx="1005840" cy="31750"/>
          </a:xfrm>
          <a:prstGeom prst="rect">
            <a:avLst/>
          </a:prstGeom>
          <a:solidFill>
            <a:srgbClr val="2B6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60350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55625D"/>
                </a:solidFill>
                <a:latin typeface="Calibri"/>
              </a:rPr>
              <a:t>Customer support teams receive high volumes of complaint tickets that need routing to the right category.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55625D"/>
                </a:solidFill>
                <a:latin typeface="Calibri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55625D"/>
                </a:solidFill>
                <a:latin typeface="Calibri"/>
              </a:rPr>
              <a:t>Manual triage is slow and inconsistent. Our goal: automatically classify complaints into 16 categories, using two different NLP approaches.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0" y="210312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5651D"/>
                </a:solidFill>
                <a:latin typeface="Calibri"/>
              </a:rPr>
              <a:t>THE REAL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2514600"/>
            <a:ext cx="4206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i="1">
                <a:solidFill>
                  <a:srgbClr val="202A28"/>
                </a:solidFill>
                <a:latin typeface="Georgia"/>
              </a:rPr>
              <a:t>Not “which model scores higher” —</a:t>
            </a:r>
          </a:p>
          <a:p>
            <a:pPr algn="l">
              <a:lnSpc>
                <a:spcPct val="135000"/>
              </a:lnSpc>
            </a:pPr>
            <a:r>
              <a:rPr sz="2200" b="0" i="1">
                <a:solidFill>
                  <a:srgbClr val="202A28"/>
                </a:solidFill>
                <a:latin typeface="Georgia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2200" b="0" i="1">
                <a:solidFill>
                  <a:srgbClr val="202A28"/>
                </a:solidFill>
                <a:latin typeface="Georgia"/>
              </a:rPr>
              <a:t>is the modern approach's accuracy gain worth its extra compute cost?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2B6E73"/>
                </a:solidFill>
                <a:latin typeface="Calibri"/>
              </a:rPr>
              <a:t>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202A28"/>
                </a:solidFill>
                <a:latin typeface="Georgia"/>
              </a:rPr>
              <a:t>1,334 Real Customer Complaints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91640"/>
            <a:ext cx="1005840" cy="31750"/>
          </a:xfrm>
          <a:prstGeom prst="rect">
            <a:avLst/>
          </a:prstGeom>
          <a:solidFill>
            <a:srgbClr val="2B6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2B6E73"/>
                </a:solidFill>
                <a:latin typeface="Georgia"/>
              </a:rPr>
              <a:t>1,334</a:t>
            </a:r>
          </a:p>
        </p:txBody>
      </p:sp>
      <p:sp>
        <p:nvSpPr>
          <p:cNvPr id="7" name="Rectangle 6"/>
          <p:cNvSpPr/>
          <p:nvPr/>
        </p:nvSpPr>
        <p:spPr>
          <a:xfrm>
            <a:off x="2194560" y="3063240"/>
            <a:ext cx="640080" cy="25400"/>
          </a:xfrm>
          <a:prstGeom prst="rect">
            <a:avLst/>
          </a:prstGeom>
          <a:solidFill>
            <a:srgbClr val="2B6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2004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5625D"/>
                </a:solidFill>
                <a:latin typeface="Calibri"/>
              </a:rPr>
              <a:t>Total complaints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19456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2B6E73"/>
                </a:solidFill>
                <a:latin typeface="Georgia"/>
              </a:rPr>
              <a:t>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0" y="3063240"/>
            <a:ext cx="640080" cy="25400"/>
          </a:xfrm>
          <a:prstGeom prst="rect">
            <a:avLst/>
          </a:prstGeom>
          <a:solidFill>
            <a:srgbClr val="2B6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32004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5625D"/>
                </a:solidFill>
                <a:latin typeface="Calibri"/>
              </a:rPr>
              <a:t>Categories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0" y="219456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2B6E73"/>
                </a:solidFill>
                <a:latin typeface="Georgia"/>
              </a:rP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0" y="3063240"/>
            <a:ext cx="640080" cy="25400"/>
          </a:xfrm>
          <a:prstGeom prst="rect">
            <a:avLst/>
          </a:prstGeom>
          <a:solidFill>
            <a:srgbClr val="2B6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0" y="32004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5625D"/>
                </a:solidFill>
                <a:latin typeface="Calibri"/>
              </a:rPr>
              <a:t>Missing values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20624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 i="0">
                <a:solidFill>
                  <a:srgbClr val="55625D"/>
                </a:solidFill>
                <a:latin typeface="Calibri"/>
              </a:rPr>
              <a:t>Columns: Complaint (text), Category (target, 16 labels), Urgency (4 levels).</a:t>
            </a:r>
          </a:p>
          <a:p>
            <a:pPr algn="l">
              <a:lnSpc>
                <a:spcPct val="150000"/>
              </a:lnSpc>
            </a:pPr>
            <a:r>
              <a:rPr sz="1600" b="0" i="0">
                <a:solidFill>
                  <a:srgbClr val="55625D"/>
                </a:solidFill>
                <a:latin typeface="Calibri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600" b="0" i="0">
                <a:solidFill>
                  <a:srgbClr val="55625D"/>
                </a:solidFill>
                <a:latin typeface="Calibri"/>
              </a:rPr>
              <a:t>Chosen over larger datasets specifically because embedding generation is the compute bottleneck for the transformer approach — a smaller dataset keeps that step manageable.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0" b="1" i="0">
                <a:solidFill>
                  <a:srgbClr val="B5651D"/>
                </a:solidFill>
                <a:latin typeface="Georgia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377440"/>
            <a:ext cx="97840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5000"/>
              </a:lnSpc>
            </a:pPr>
            <a:r>
              <a:rPr sz="2700" b="0" i="1">
                <a:solidFill>
                  <a:srgbClr val="EDEEEA"/>
                </a:solidFill>
                <a:latin typeface="Georgia"/>
              </a:rPr>
              <a:t>The transformer approach will beat the classical baseline mainly on rare / semantically overlapping categories — but at a compute cost that may not be justified for the common, easy categories.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120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5651D"/>
                </a:solidFill>
                <a:latin typeface="Calibri"/>
              </a:rPr>
              <a:t>OUR HYPOTHESIS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2B6E73"/>
                </a:solidFill>
                <a:latin typeface="Calibri"/>
              </a:rPr>
              <a:t>EXPLORATORY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02A28"/>
                </a:solidFill>
                <a:latin typeface="Georgia"/>
              </a:rPr>
              <a:t>A Real Class Imbalance</a:t>
            </a:r>
          </a:p>
        </p:txBody>
      </p:sp>
      <p:pic>
        <p:nvPicPr>
          <p:cNvPr id="5" name="Picture 4" descr="eda_cell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24825"/>
            <a:ext cx="6217920" cy="370562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040880" y="1554480"/>
            <a:ext cx="822960" cy="31750"/>
          </a:xfrm>
          <a:prstGeom prst="rect">
            <a:avLst/>
          </a:prstGeom>
          <a:solidFill>
            <a:srgbClr val="2B6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2000"/>
              </a:spcAft>
            </a:pPr>
            <a:r>
              <a:rPr sz="1500" b="1">
                <a:solidFill>
                  <a:srgbClr val="2B6E73"/>
                </a:solidFill>
                <a:latin typeface="Georgia"/>
              </a:rPr>
              <a:t>01   </a:t>
            </a:r>
            <a:r>
              <a:rPr sz="1500">
                <a:solidFill>
                  <a:srgbClr val="202A28"/>
                </a:solidFill>
                <a:latin typeface="Calibri"/>
              </a:rPr>
              <a:t>6.8x imbalance between the largest category (Promotions, 137) and smallest (Refunds, 20)</a:t>
            </a:r>
          </a:p>
          <a:p>
            <a:pPr>
              <a:lnSpc>
                <a:spcPct val="125000"/>
              </a:lnSpc>
              <a:spcAft>
                <a:spcPts val="2000"/>
              </a:spcAft>
            </a:pPr>
            <a:r>
              <a:rPr sz="1500" b="1">
                <a:solidFill>
                  <a:srgbClr val="2B6E73"/>
                </a:solidFill>
                <a:latin typeface="Georgia"/>
              </a:rPr>
              <a:t>02   </a:t>
            </a:r>
            <a:r>
              <a:rPr sz="1500">
                <a:solidFill>
                  <a:srgbClr val="202A28"/>
                </a:solidFill>
                <a:latin typeface="Calibri"/>
              </a:rPr>
              <a:t>Category and Urgency are statistically related (χ² = 154.22, p &lt; 0.0001)</a:t>
            </a:r>
          </a:p>
          <a:p>
            <a:pPr>
              <a:lnSpc>
                <a:spcPct val="125000"/>
              </a:lnSpc>
              <a:spcAft>
                <a:spcPts val="2000"/>
              </a:spcAft>
            </a:pPr>
            <a:r>
              <a:rPr sz="1500" b="1">
                <a:solidFill>
                  <a:srgbClr val="2B6E73"/>
                </a:solidFill>
                <a:latin typeface="Georgia"/>
              </a:rPr>
              <a:t>03   </a:t>
            </a:r>
            <a:r>
              <a:rPr sz="1500">
                <a:solidFill>
                  <a:srgbClr val="202A28"/>
                </a:solidFill>
                <a:latin typeface="Calibri"/>
              </a:rPr>
              <a:t>“Payments” and “Checkout” share 29.8% of their vocabulary — a real overlap case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2B6E73"/>
                </a:solidFill>
                <a:latin typeface="Calibri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02A28"/>
                </a:solidFill>
                <a:latin typeface="Georgia"/>
              </a:rPr>
              <a:t>Two Approaches, One Classifier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54480"/>
            <a:ext cx="1005840" cy="31750"/>
          </a:xfrm>
          <a:prstGeom prst="rect">
            <a:avLst/>
          </a:prstGeom>
          <a:solidFill>
            <a:srgbClr val="2B6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35040" y="1920240"/>
            <a:ext cx="19050" cy="3291840"/>
          </a:xfrm>
          <a:prstGeom prst="rect">
            <a:avLst/>
          </a:prstGeom>
          <a:solidFill>
            <a:srgbClr val="D7D9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5651D"/>
                </a:solidFill>
                <a:latin typeface="Calibri"/>
              </a:rPr>
              <a:t>CLASSICAL 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2316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02A28"/>
                </a:solidFill>
                <a:latin typeface="Georgia"/>
              </a:rPr>
              <a:t>TF-IDF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5468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</a:pPr>
            <a:r>
              <a:rPr sz="1600" b="0" i="0">
                <a:solidFill>
                  <a:srgbClr val="55625D"/>
                </a:solidFill>
                <a:latin typeface="Calibri"/>
              </a:rPr>
              <a:t>Word-count features</a:t>
            </a:r>
          </a:p>
          <a:p>
            <a:pPr algn="l">
              <a:lnSpc>
                <a:spcPct val="160000"/>
              </a:lnSpc>
            </a:pPr>
            <a:r>
              <a:rPr sz="1600" b="0" i="0">
                <a:solidFill>
                  <a:srgbClr val="55625D"/>
                </a:solidFill>
                <a:latin typeface="Calibri"/>
              </a:rPr>
              <a:t>Matches exact words</a:t>
            </a:r>
          </a:p>
          <a:p>
            <a:pPr algn="l">
              <a:lnSpc>
                <a:spcPct val="160000"/>
              </a:lnSpc>
            </a:pPr>
            <a:r>
              <a:rPr sz="1600" b="0" i="0">
                <a:solidFill>
                  <a:srgbClr val="55625D"/>
                </a:solidFill>
                <a:latin typeface="Calibri"/>
              </a:rPr>
              <a:t>From course toolkit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0116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6E73"/>
                </a:solidFill>
                <a:latin typeface="Calibri"/>
              </a:rPr>
              <a:t>TRANSFORMER APPROACH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42316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02A28"/>
                </a:solidFill>
                <a:latin typeface="Georgia"/>
              </a:rPr>
              <a:t>Sentence Embeddings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15468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</a:pPr>
            <a:r>
              <a:rPr sz="1600" b="0" i="0">
                <a:solidFill>
                  <a:srgbClr val="55625D"/>
                </a:solidFill>
                <a:latin typeface="Calibri"/>
              </a:rPr>
              <a:t>Pretrained meaning-vectors</a:t>
            </a:r>
          </a:p>
          <a:p>
            <a:pPr algn="l">
              <a:lnSpc>
                <a:spcPct val="160000"/>
              </a:lnSpc>
            </a:pPr>
            <a:r>
              <a:rPr sz="1600" b="0" i="0">
                <a:solidFill>
                  <a:srgbClr val="55625D"/>
                </a:solidFill>
                <a:latin typeface="Calibri"/>
              </a:rPr>
              <a:t>Matches semantic meaning</a:t>
            </a:r>
          </a:p>
          <a:p>
            <a:pPr algn="l">
              <a:lnSpc>
                <a:spcPct val="160000"/>
              </a:lnSpc>
            </a:pPr>
            <a:r>
              <a:rPr sz="1600" b="0" i="0">
                <a:solidFill>
                  <a:srgbClr val="55625D"/>
                </a:solidFill>
                <a:latin typeface="Calibri"/>
              </a:rPr>
              <a:t>Research component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1">
                <a:solidFill>
                  <a:srgbClr val="202A28"/>
                </a:solidFill>
                <a:latin typeface="Georgia"/>
              </a:rPr>
              <a:t>Both feed into the SAME Logistic Regression classifier — isolating the feature method as the only variable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2B6E73"/>
                </a:solidFill>
                <a:latin typeface="Calibri"/>
              </a:rPr>
              <a:t>METHOD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02A28"/>
                </a:solidFill>
                <a:latin typeface="Georgia"/>
              </a:rPr>
              <a:t>What Makes This a Fair Test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54480"/>
            <a:ext cx="1005840" cy="31750"/>
          </a:xfrm>
          <a:prstGeom prst="rect">
            <a:avLst/>
          </a:prstGeom>
          <a:solidFill>
            <a:srgbClr val="2B6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2200"/>
              </a:spcAft>
            </a:pPr>
            <a:r>
              <a:rPr sz="1800" b="1">
                <a:solidFill>
                  <a:srgbClr val="2B6E73"/>
                </a:solidFill>
                <a:latin typeface="Georgia"/>
              </a:rPr>
              <a:t>01   </a:t>
            </a:r>
            <a:r>
              <a:rPr sz="1800">
                <a:solidFill>
                  <a:srgbClr val="202A28"/>
                </a:solidFill>
                <a:latin typeface="Calibri"/>
              </a:rPr>
              <a:t>One shared 80/20 stratified split, random_state=42 — identical rows used by both notebooks</a:t>
            </a:r>
          </a:p>
          <a:p>
            <a:pPr>
              <a:lnSpc>
                <a:spcPct val="125000"/>
              </a:lnSpc>
              <a:spcAft>
                <a:spcPts val="2200"/>
              </a:spcAft>
            </a:pPr>
            <a:r>
              <a:rPr sz="1800" b="1">
                <a:solidFill>
                  <a:srgbClr val="2B6E73"/>
                </a:solidFill>
                <a:latin typeface="Georgia"/>
              </a:rPr>
              <a:t>02   </a:t>
            </a:r>
            <a:r>
              <a:rPr sz="1800">
                <a:solidFill>
                  <a:srgbClr val="202A28"/>
                </a:solidFill>
                <a:latin typeface="Calibri"/>
              </a:rPr>
              <a:t>All 16 categories kept unmerged — preserves the rare-class phenomenon under study</a:t>
            </a:r>
          </a:p>
          <a:p>
            <a:pPr>
              <a:lnSpc>
                <a:spcPct val="125000"/>
              </a:lnSpc>
              <a:spcAft>
                <a:spcPts val="2200"/>
              </a:spcAft>
            </a:pPr>
            <a:r>
              <a:rPr sz="1800" b="1">
                <a:solidFill>
                  <a:srgbClr val="2B6E73"/>
                </a:solidFill>
                <a:latin typeface="Georgia"/>
              </a:rPr>
              <a:t>03   </a:t>
            </a:r>
            <a:r>
              <a:rPr sz="1800">
                <a:solidFill>
                  <a:srgbClr val="202A28"/>
                </a:solidFill>
                <a:latin typeface="Calibri"/>
              </a:rPr>
              <a:t>Macro F1 as the primary metric — treats every category equally, unlike plain accuracy</a:t>
            </a:r>
          </a:p>
          <a:p>
            <a:pPr>
              <a:lnSpc>
                <a:spcPct val="125000"/>
              </a:lnSpc>
              <a:spcAft>
                <a:spcPts val="2200"/>
              </a:spcAft>
            </a:pPr>
            <a:r>
              <a:rPr sz="1800" b="1">
                <a:solidFill>
                  <a:srgbClr val="2B6E73"/>
                </a:solidFill>
                <a:latin typeface="Georgia"/>
              </a:rPr>
              <a:t>04   </a:t>
            </a:r>
            <a:r>
              <a:rPr sz="1800">
                <a:solidFill>
                  <a:srgbClr val="202A28"/>
                </a:solidFill>
                <a:latin typeface="Calibri"/>
              </a:rPr>
              <a:t>Compute cost tracked alongside accuracy — time, memory, model size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2B6E73"/>
                </a:solidFill>
                <a:latin typeface="Calibr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02A28"/>
                </a:solidFill>
                <a:latin typeface="Georgia"/>
              </a:rPr>
              <a:t>Head-to-Head</a:t>
            </a:r>
          </a:p>
        </p:txBody>
      </p:sp>
      <p:pic>
        <p:nvPicPr>
          <p:cNvPr id="5" name="Picture 4" descr="baseline_cell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133" y="1234440"/>
            <a:ext cx="4601094" cy="4114799"/>
          </a:xfrm>
          <a:prstGeom prst="rect">
            <a:avLst/>
          </a:prstGeom>
        </p:spPr>
      </p:pic>
      <p:pic>
        <p:nvPicPr>
          <p:cNvPr id="6" name="Picture 5" descr="transformer_cell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6293" y="1234440"/>
            <a:ext cx="4601094" cy="41147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88720" y="54406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5625D"/>
                </a:solidFill>
                <a:latin typeface="Calibr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54406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5625D"/>
                </a:solidFill>
                <a:latin typeface="Calibri"/>
              </a:rPr>
              <a:t>TF-IDF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54406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5625D"/>
                </a:solidFill>
                <a:latin typeface="Calibri"/>
              </a:rPr>
              <a:t>Transformer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57607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02A28"/>
                </a:solidFill>
                <a:latin typeface="Calibri"/>
              </a:rPr>
              <a:t>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57607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02A28"/>
                </a:solidFill>
                <a:latin typeface="Calibri"/>
              </a:rPr>
              <a:t>0.861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57607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B6E73"/>
                </a:solidFill>
                <a:latin typeface="Calibri"/>
              </a:rPr>
              <a:t>0.881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61264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02A28"/>
                </a:solidFill>
                <a:latin typeface="Calibri"/>
              </a:rPr>
              <a:t>Macro F1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61264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02A28"/>
                </a:solidFill>
                <a:latin typeface="Calibri"/>
              </a:rPr>
              <a:t>0.866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61264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B6E73"/>
                </a:solidFill>
                <a:latin typeface="Calibri"/>
              </a:rPr>
              <a:t>0.889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2B6E73"/>
                </a:solidFill>
                <a:latin typeface="Calibri"/>
              </a:rPr>
              <a:t>IMBALANCE HANDLING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02A28"/>
                </a:solidFill>
                <a:latin typeface="Georgia"/>
              </a:rPr>
              <a:t>class_weight='balanced' Actually Works</a:t>
            </a:r>
          </a:p>
        </p:txBody>
      </p:sp>
      <p:pic>
        <p:nvPicPr>
          <p:cNvPr id="5" name="Picture 4" descr="transformer_cell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2069" y="1280160"/>
            <a:ext cx="5768822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B5651D"/>
                </a:solidFill>
                <a:latin typeface="Calibr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DEEEA"/>
                </a:solidFill>
                <a:latin typeface="Georgia"/>
              </a:rPr>
              <a:t>Answering the Hypothesis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37360"/>
            <a:ext cx="1005840" cy="31750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2000"/>
              </a:spcAft>
            </a:pPr>
            <a:r>
              <a:rPr sz="1700" b="1">
                <a:solidFill>
                  <a:srgbClr val="B5651D"/>
                </a:solidFill>
                <a:latin typeface="Georgia"/>
              </a:rPr>
              <a:t>01   </a:t>
            </a:r>
            <a:r>
              <a:rPr sz="1700">
                <a:solidFill>
                  <a:srgbClr val="EDEEEA"/>
                </a:solidFill>
                <a:latin typeface="Calibri"/>
              </a:rPr>
              <a:t>Class weighting helps rare categories in BOTH approaches — a data/classifier property, not unique to embeddings</a:t>
            </a:r>
          </a:p>
          <a:p>
            <a:pPr>
              <a:lnSpc>
                <a:spcPct val="125000"/>
              </a:lnSpc>
              <a:spcAft>
                <a:spcPts val="2000"/>
              </a:spcAft>
            </a:pPr>
            <a:r>
              <a:rPr sz="1700" b="1">
                <a:solidFill>
                  <a:srgbClr val="B5651D"/>
                </a:solidFill>
                <a:latin typeface="Georgia"/>
              </a:rPr>
              <a:t>02   </a:t>
            </a:r>
            <a:r>
              <a:rPr sz="1700">
                <a:solidFill>
                  <a:srgbClr val="EDEEEA"/>
                </a:solidFill>
                <a:latin typeface="Calibri"/>
              </a:rPr>
              <a:t>Transformer wins on macro F1 (+0.023), but the margin is modest relative to an order-of-magnitude increase in compute cost</a:t>
            </a:r>
          </a:p>
          <a:p>
            <a:pPr>
              <a:lnSpc>
                <a:spcPct val="125000"/>
              </a:lnSpc>
              <a:spcAft>
                <a:spcPts val="2000"/>
              </a:spcAft>
            </a:pPr>
            <a:r>
              <a:rPr sz="1700" b="1">
                <a:solidFill>
                  <a:srgbClr val="B5651D"/>
                </a:solidFill>
                <a:latin typeface="Georgia"/>
              </a:rPr>
              <a:t>03   </a:t>
            </a:r>
            <a:r>
              <a:rPr sz="1700">
                <a:solidFill>
                  <a:srgbClr val="EDEEEA"/>
                </a:solidFill>
                <a:latin typeface="Calibri"/>
              </a:rPr>
              <a:t>Verdict: worth it for lower-volume, accuracy-critical use cases; TF-IDF remains preferable for high-volume, latency-sensitive deployment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651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202A28"/>
                </a:solidFill>
                <a:latin typeface="Georgia"/>
              </a:rPr>
              <a:t>Questions?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566160"/>
            <a:ext cx="1005840" cy="31750"/>
          </a:xfrm>
          <a:prstGeom prst="rect">
            <a:avLst/>
          </a:prstGeom>
          <a:solidFill>
            <a:srgbClr val="2B6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7490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625D"/>
                </a:solidFill>
                <a:latin typeface="Calibri"/>
              </a:rPr>
              <a:t>Classical vs. Transformer: Complaint Classification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